
<file path=[Content_Types].xml><?xml version="1.0" encoding="utf-8"?>
<Types xmlns="http://schemas.openxmlformats.org/package/2006/content-types">
  <Default Extension="1" ContentType="image/jpeg"/>
  <Default Extension="avif" ContentType="image/avi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Lato" panose="020B0604020202020204" charset="0"/>
      <p:regular r:id="rId11"/>
      <p:bold r:id="rId12"/>
      <p:italic r:id="rId13"/>
      <p:boldItalic r:id="rId14"/>
    </p:embeddedFont>
    <p:embeddedFont>
      <p:font typeface="Lato Light" panose="020B0604020202020204" charset="0"/>
      <p:regular r:id="rId15"/>
      <p:italic r:id="rId16"/>
    </p:embeddedFont>
    <p:embeddedFont>
      <p:font typeface="Open Sans" panose="020B0604020202020204" charset="0"/>
      <p:regular r:id="rId17"/>
      <p:bold r:id="rId18"/>
      <p:italic r:id="rId19"/>
      <p:boldItalic r:id="rId20"/>
    </p:embeddedFont>
    <p:embeddedFont>
      <p:font typeface="Proxima Nova" panose="020B0604020202020204" charset="0"/>
      <p:regular r:id="rId21"/>
      <p:bold r:id="rId22"/>
      <p:italic r:id="rId23"/>
      <p:boldItalic r:id="rId24"/>
    </p:embeddedFont>
    <p:embeddedFont>
      <p:font typeface="Proxima Nova Semibold" panose="020B0604020202020204" charset="0"/>
      <p:regular r:id="rId25"/>
      <p:bold r:id="rId26"/>
      <p:boldItalic r:id="rId27"/>
    </p:embeddedFont>
    <p:embeddedFont>
      <p:font typeface="Sora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slide" Target="slides/slide8.xml"/><Relationship Id="rId19" Type="http://schemas.openxmlformats.org/officeDocument/2006/relationships/font" Target="fonts/font9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36" name="Google Shape;36;p4"/>
          <p:cNvCxnSpPr/>
          <p:nvPr/>
        </p:nvCxnSpPr>
        <p:spPr>
          <a:xfrm rot="-5400000" flipH="1">
            <a:off x="-1741502" y="1903025"/>
            <a:ext cx="4581000" cy="3420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" name="Google Shape;64;p6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>
            <a:spLocks noGrp="1"/>
          </p:cNvSpPr>
          <p:nvPr>
            <p:ph type="subTitle" idx="1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4" name="Google Shape;74;p7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75" name="Google Shape;75;p7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1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86" name="Google Shape;86;p9"/>
          <p:cNvSpPr>
            <a:spLocks noGrp="1"/>
          </p:cNvSpPr>
          <p:nvPr>
            <p:ph type="pic" idx="2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7" name="Google Shape;87;p9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88" name="Google Shape;88;p9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92" name="Google Shape;92;p9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name="adj1" fmla="val 6414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93" name="Google Shape;93;p9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name="adj1" fmla="val 34437"/>
                <a:gd name="adj2" fmla="val 30563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>
            <a:spLocks noGrp="1"/>
          </p:cNvSpPr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En blanco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 hasCustomPrompt="1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134" name="Google Shape;134;p14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135" name="Google Shape;135;p1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38" name="Google Shape;138;p14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name="adj1" fmla="val 3258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9" name="Google Shape;139;p14"/>
            <p:cNvCxnSpPr/>
            <p:nvPr/>
          </p:nvCxnSpPr>
          <p:spPr>
            <a:xfrm rot="-5400000" flipH="1">
              <a:off x="-2164550" y="1408116"/>
              <a:ext cx="48771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grpSp>
        <p:nvGrpSpPr>
          <p:cNvPr id="142" name="Google Shape;142;p15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143" name="Google Shape;143;p1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rot="10800000" flipH="1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146" name="Google Shape;146;p15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name="adj1" fmla="val 434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47" name="Google Shape;147;p15"/>
            <p:cNvCxnSpPr/>
            <p:nvPr/>
          </p:nvCxnSpPr>
          <p:spPr>
            <a:xfrm rot="-5400000" flipH="1">
              <a:off x="-2164550" y="1408116"/>
              <a:ext cx="48771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6" name="Google Shape;166;p17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7" name="Google Shape;167;p17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9" name="Google Shape;169;p17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>
            <a:spLocks noGrp="1"/>
          </p:cNvSpPr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1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79" name="Google Shape;179;p18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180" name="Google Shape;180;p1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81" name="Google Shape;181;p1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82" name="Google Shape;182;p18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183" name="Google Shape;183;p18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1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188" name="Google Shape;188;p19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189" name="Google Shape;189;p1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91" name="Google Shape;191;p19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92" name="Google Shape;192;p19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93" name="Google Shape;193;p19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194" name="Google Shape;194;p1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9" name="Google Shape;199;p20"/>
          <p:cNvSpPr txBox="1">
            <a:spLocks noGrp="1"/>
          </p:cNvSpPr>
          <p:nvPr>
            <p:ph type="subTitle" idx="1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00" name="Google Shape;200;p20"/>
          <p:cNvSpPr txBox="1">
            <a:spLocks noGrp="1"/>
          </p:cNvSpPr>
          <p:nvPr>
            <p:ph type="subTitle" idx="2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3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subTitle" idx="4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203" name="Google Shape;203;p20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name="adj1" fmla="val 81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cxnSp>
          <p:nvCxnSpPr>
            <p:cNvPr id="207" name="Google Shape;207;p20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name="adj1" fmla="val 4694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09" name="Google Shape;209;p20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211" name="Google Shape;211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214" name="Google Shape;214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8" name="Google Shape;218;p21"/>
          <p:cNvSpPr txBox="1">
            <a:spLocks noGrp="1"/>
          </p:cNvSpPr>
          <p:nvPr>
            <p:ph type="subTitle" idx="1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19" name="Google Shape;219;p21"/>
          <p:cNvSpPr txBox="1">
            <a:spLocks noGrp="1"/>
          </p:cNvSpPr>
          <p:nvPr>
            <p:ph type="subTitle" idx="2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220" name="Google Shape;220;p21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221" name="Google Shape;221;p21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2" name="Google Shape;222;p21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3" name="Google Shape;223;p21"/>
            <p:cNvCxnSpPr/>
            <p:nvPr/>
          </p:nvCxnSpPr>
          <p:spPr>
            <a:xfrm rot="-5400000" flipH="1">
              <a:off x="6680600" y="1389250"/>
              <a:ext cx="3956400" cy="30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4" name="Google Shape;224;p21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name="adj1" fmla="val 3546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5" name="Google Shape;225;p21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7" name="Google Shape;227;p21"/>
            <p:cNvCxnSpPr/>
            <p:nvPr/>
          </p:nvCxnSpPr>
          <p:spPr>
            <a:xfrm rot="-5400000" flipH="1">
              <a:off x="-1623700" y="-1097800"/>
              <a:ext cx="3956400" cy="30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8" name="Google Shape;228;p21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name="adj1" fmla="val 3546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29" name="Google Shape;229;p21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230" name="Google Shape;230;p21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subTitle" idx="2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subTitle" idx="3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ubTitle" idx="4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5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6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>
            <a:spLocks noGrp="1"/>
          </p:cNvSpPr>
          <p:nvPr>
            <p:ph type="subTitle" idx="1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4" name="Google Shape;254;p23"/>
          <p:cNvSpPr txBox="1">
            <a:spLocks noGrp="1"/>
          </p:cNvSpPr>
          <p:nvPr>
            <p:ph type="subTitle" idx="2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5" name="Google Shape;255;p23"/>
          <p:cNvSpPr txBox="1">
            <a:spLocks noGrp="1"/>
          </p:cNvSpPr>
          <p:nvPr>
            <p:ph type="subTitle" idx="3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6" name="Google Shape;25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57" name="Google Shape;257;p23"/>
          <p:cNvSpPr txBox="1">
            <a:spLocks noGrp="1"/>
          </p:cNvSpPr>
          <p:nvPr>
            <p:ph type="subTitle" idx="4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8" name="Google Shape;258;p23"/>
          <p:cNvSpPr txBox="1">
            <a:spLocks noGrp="1"/>
          </p:cNvSpPr>
          <p:nvPr>
            <p:ph type="subTitle" idx="5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59" name="Google Shape;259;p23"/>
          <p:cNvSpPr txBox="1">
            <a:spLocks noGrp="1"/>
          </p:cNvSpPr>
          <p:nvPr>
            <p:ph type="subTitle" idx="6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260" name="Google Shape;260;p2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261" name="Google Shape;261;p23"/>
            <p:cNvSpPr/>
            <p:nvPr/>
          </p:nvSpPr>
          <p:spPr>
            <a:xfrm>
              <a:off x="8937302" y="74717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8577884" y="2792122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8577868" y="4353966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" name="Google Shape;264;p2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265" name="Google Shape;265;p2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9059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66" name="Google Shape;266;p2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9476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69" name="Google Shape;269;p24"/>
          <p:cNvSpPr txBox="1">
            <a:spLocks noGrp="1"/>
          </p:cNvSpPr>
          <p:nvPr>
            <p:ph type="subTitle" idx="1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0" name="Google Shape;270;p24"/>
          <p:cNvSpPr txBox="1">
            <a:spLocks noGrp="1"/>
          </p:cNvSpPr>
          <p:nvPr>
            <p:ph type="subTitle" idx="2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subTitle" idx="3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4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5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4" name="Google Shape;274;p24"/>
          <p:cNvSpPr txBox="1">
            <a:spLocks noGrp="1"/>
          </p:cNvSpPr>
          <p:nvPr>
            <p:ph type="subTitle" idx="6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7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subTitle" idx="8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0" name="Google Shape;290;p25"/>
          <p:cNvSpPr txBox="1">
            <a:spLocks noGrp="1"/>
          </p:cNvSpPr>
          <p:nvPr>
            <p:ph type="subTitle" idx="1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1" name="Google Shape;291;p25"/>
          <p:cNvSpPr txBox="1">
            <a:spLocks noGrp="1"/>
          </p:cNvSpPr>
          <p:nvPr>
            <p:ph type="subTitle" idx="2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2" name="Google Shape;292;p25"/>
          <p:cNvSpPr txBox="1">
            <a:spLocks noGrp="1"/>
          </p:cNvSpPr>
          <p:nvPr>
            <p:ph type="subTitle" idx="3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3" name="Google Shape;293;p25"/>
          <p:cNvSpPr txBox="1">
            <a:spLocks noGrp="1"/>
          </p:cNvSpPr>
          <p:nvPr>
            <p:ph type="subTitle" idx="4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4" name="Google Shape;294;p25"/>
          <p:cNvSpPr txBox="1">
            <a:spLocks noGrp="1"/>
          </p:cNvSpPr>
          <p:nvPr>
            <p:ph type="subTitle" idx="5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5" name="Google Shape;295;p25"/>
          <p:cNvSpPr txBox="1">
            <a:spLocks noGrp="1"/>
          </p:cNvSpPr>
          <p:nvPr>
            <p:ph type="subTitle" idx="6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6" name="Google Shape;296;p25"/>
          <p:cNvSpPr txBox="1">
            <a:spLocks noGrp="1"/>
          </p:cNvSpPr>
          <p:nvPr>
            <p:ph type="subTitle" idx="7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7" name="Google Shape;297;p25"/>
          <p:cNvSpPr txBox="1">
            <a:spLocks noGrp="1"/>
          </p:cNvSpPr>
          <p:nvPr>
            <p:ph type="subTitle" idx="8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8" name="Google Shape;298;p25"/>
          <p:cNvSpPr txBox="1">
            <a:spLocks noGrp="1"/>
          </p:cNvSpPr>
          <p:nvPr>
            <p:ph type="subTitle" idx="9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299" name="Google Shape;299;p25"/>
          <p:cNvSpPr txBox="1">
            <a:spLocks noGrp="1"/>
          </p:cNvSpPr>
          <p:nvPr>
            <p:ph type="subTitle" idx="13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subTitle" idx="14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01" name="Google Shape;301;p25"/>
          <p:cNvSpPr txBox="1">
            <a:spLocks noGrp="1"/>
          </p:cNvSpPr>
          <p:nvPr>
            <p:ph type="subTitle" idx="15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302" name="Google Shape;302;p2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name="adj1" fmla="val -366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04" name="Google Shape;304;p2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05" name="Google Shape;305;p25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306" name="Google Shape;306;p25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>
            <a:spLocks noGrp="1"/>
          </p:cNvSpPr>
          <p:nvPr>
            <p:ph type="title" hasCustomPrompt="1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1" name="Google Shape;311;p26"/>
          <p:cNvSpPr txBox="1">
            <a:spLocks noGrp="1"/>
          </p:cNvSpPr>
          <p:nvPr>
            <p:ph type="subTitle" idx="1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6"/>
          <p:cNvSpPr txBox="1">
            <a:spLocks noGrp="1"/>
          </p:cNvSpPr>
          <p:nvPr>
            <p:ph type="subTitle" idx="3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14" name="Google Shape;314;p26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6"/>
          <p:cNvSpPr txBox="1">
            <a:spLocks noGrp="1"/>
          </p:cNvSpPr>
          <p:nvPr>
            <p:ph type="subTitle" idx="5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grpSp>
        <p:nvGrpSpPr>
          <p:cNvPr id="316" name="Google Shape;316;p26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317" name="Google Shape;317;p26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321" name="Google Shape;321;p26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6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>
            <a:spLocks noGrp="1"/>
          </p:cNvSpPr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6" name="Google Shape;326;p27"/>
          <p:cNvSpPr txBox="1">
            <a:spLocks noGrp="1"/>
          </p:cNvSpPr>
          <p:nvPr>
            <p:ph type="subTitle" idx="1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60" name="Google Shape;360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hyperlink" Target="https://megustacocinarthermomix.blogspot.com/2017/09/bizcocho-de-chocolate-express-tm5-y.html" TargetMode="External"/><Relationship Id="rId3" Type="http://schemas.openxmlformats.org/officeDocument/2006/relationships/hyperlink" Target="https://www.rawpixel.com/free-images" TargetMode="External"/><Relationship Id="rId7" Type="http://schemas.openxmlformats.org/officeDocument/2006/relationships/hyperlink" Target="https://terapiaenergetica.pt/bem-vindo/blog/" TargetMode="External"/><Relationship Id="rId12" Type="http://schemas.openxmlformats.org/officeDocument/2006/relationships/image" Target="../media/image8.jpg"/><Relationship Id="rId2" Type="http://schemas.openxmlformats.org/officeDocument/2006/relationships/image" Target="../media/image3.1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.jpg"/><Relationship Id="rId11" Type="http://schemas.openxmlformats.org/officeDocument/2006/relationships/hyperlink" Target="https://cuphead.gamepedia.com/Cuphead_Wiki" TargetMode="External"/><Relationship Id="rId5" Type="http://schemas.openxmlformats.org/officeDocument/2006/relationships/hyperlink" Target="https://pxhere.com/en/photo/1370785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.jpg"/><Relationship Id="rId9" Type="http://schemas.openxmlformats.org/officeDocument/2006/relationships/hyperlink" Target="https://es.wikipedia.org/wiki/Banelc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avi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2.jpg"/><Relationship Id="rId4" Type="http://schemas.openxmlformats.org/officeDocument/2006/relationships/image" Target="../media/image11.web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avif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doqlabs.com/" TargetMode="Externa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8.png"/><Relationship Id="rId4" Type="http://schemas.openxmlformats.org/officeDocument/2006/relationships/hyperlink" Target="http://apysis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av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60526-656A-CF49-D629-BCFACCF12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3716" y="766757"/>
            <a:ext cx="5899225" cy="1750500"/>
          </a:xfrm>
        </p:spPr>
        <p:txBody>
          <a:bodyPr/>
          <a:lstStyle/>
          <a:p>
            <a:pPr algn="ctr"/>
            <a:r>
              <a:rPr lang="es-MX" sz="4400" dirty="0"/>
              <a:t>Bienvenidos al mundo de la programación web.</a:t>
            </a:r>
            <a:endParaRPr lang="en-US" sz="4400" dirty="0"/>
          </a:p>
        </p:txBody>
      </p:sp>
      <p:pic>
        <p:nvPicPr>
          <p:cNvPr id="4" name="Imagen 3" descr="Coding PNGs for Free Download">
            <a:extLst>
              <a:ext uri="{FF2B5EF4-FFF2-40B4-BE49-F238E27FC236}">
                <a16:creationId xmlns:a16="http://schemas.microsoft.com/office/drawing/2014/main" id="{3232A9F1-CFA2-D885-7525-EF9D7D762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15" y="2716402"/>
            <a:ext cx="4999416" cy="333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7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95C22-43C7-7B0D-D049-B7B4A83C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0662" y="187578"/>
            <a:ext cx="3524100" cy="1403400"/>
          </a:xfrm>
        </p:spPr>
        <p:txBody>
          <a:bodyPr/>
          <a:lstStyle/>
          <a:p>
            <a:pPr algn="ctr"/>
            <a:r>
              <a:rPr lang="es-MX" sz="2800" dirty="0"/>
              <a:t>Pero… para empezar ¿qué es la programación?</a:t>
            </a:r>
            <a:endParaRPr lang="en-US" sz="2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B45536-0D98-DB6D-A9F4-DD026FD15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6675" y="1689315"/>
            <a:ext cx="3524100" cy="24384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s-MX" sz="1800" b="1" dirty="0"/>
              <a:t>Es darle instrucciones a una computadora.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MX" sz="1800" b="1" dirty="0"/>
              <a:t>Nosotros estamos al mando, la computadora está a nuestras ordenes, ella “escucha” y ejecuta lo que nosotros le “decimos”.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6F591EC9-7E80-4F65-9242-27B9784E263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8529" r="8529"/>
          <a:stretch/>
        </p:blipFill>
        <p:spPr>
          <a:xfrm>
            <a:off x="192300" y="381900"/>
            <a:ext cx="4379700" cy="4379700"/>
          </a:xfrm>
          <a:prstGeom prst="ellipse">
            <a:avLst/>
          </a:prstGeom>
          <a:noFill/>
          <a:ln>
            <a:noFill/>
          </a:ln>
          <a:effectLst>
            <a:glow rad="508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2602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7B9C3-CDD6-921D-83AB-AFACFB60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sz="2400" dirty="0"/>
              <a:t>Cosas que usan programación todos los días</a:t>
            </a:r>
            <a:endParaRPr lang="en-US" sz="2400" dirty="0"/>
          </a:p>
        </p:txBody>
      </p:sp>
      <p:pic>
        <p:nvPicPr>
          <p:cNvPr id="22" name="Marcador de posición de imagen 5">
            <a:extLst>
              <a:ext uri="{FF2B5EF4-FFF2-40B4-BE49-F238E27FC236}">
                <a16:creationId xmlns:a16="http://schemas.microsoft.com/office/drawing/2014/main" id="{2342A94E-40D8-8BD3-2585-C1A6BBAC0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4500" r="14500"/>
          <a:stretch/>
        </p:blipFill>
        <p:spPr>
          <a:xfrm>
            <a:off x="6369880" y="1062415"/>
            <a:ext cx="1731681" cy="1731681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pic>
        <p:nvPicPr>
          <p:cNvPr id="28" name="Marcador de posición de imagen 5">
            <a:extLst>
              <a:ext uri="{FF2B5EF4-FFF2-40B4-BE49-F238E27FC236}">
                <a16:creationId xmlns:a16="http://schemas.microsoft.com/office/drawing/2014/main" id="{419D3DB0-302D-7E58-DA70-A76F92C2B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8257" r="18257"/>
          <a:stretch/>
        </p:blipFill>
        <p:spPr>
          <a:xfrm>
            <a:off x="1350541" y="1017725"/>
            <a:ext cx="1731681" cy="1731681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pic>
        <p:nvPicPr>
          <p:cNvPr id="29" name="Marcador de posición de imagen 5">
            <a:extLst>
              <a:ext uri="{FF2B5EF4-FFF2-40B4-BE49-F238E27FC236}">
                <a16:creationId xmlns:a16="http://schemas.microsoft.com/office/drawing/2014/main" id="{22E477BF-C471-199B-92BE-F141B56A33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t="16667" b="16667"/>
          <a:stretch/>
        </p:blipFill>
        <p:spPr>
          <a:xfrm>
            <a:off x="6369880" y="3019486"/>
            <a:ext cx="1731681" cy="1731681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pic>
        <p:nvPicPr>
          <p:cNvPr id="30" name="Marcador de posición de imagen 5">
            <a:extLst>
              <a:ext uri="{FF2B5EF4-FFF2-40B4-BE49-F238E27FC236}">
                <a16:creationId xmlns:a16="http://schemas.microsoft.com/office/drawing/2014/main" id="{67183533-5EB8-F7C7-51BE-8F2FD91390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t="12462" b="12462"/>
          <a:stretch/>
        </p:blipFill>
        <p:spPr>
          <a:xfrm>
            <a:off x="3860209" y="3019486"/>
            <a:ext cx="1731681" cy="1731681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pic>
        <p:nvPicPr>
          <p:cNvPr id="31" name="Marcador de posición de imagen 5">
            <a:extLst>
              <a:ext uri="{FF2B5EF4-FFF2-40B4-BE49-F238E27FC236}">
                <a16:creationId xmlns:a16="http://schemas.microsoft.com/office/drawing/2014/main" id="{EC2586DD-2744-61DF-5C8D-EDC1831F28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35365" r="6096"/>
          <a:stretch>
            <a:fillRect/>
          </a:stretch>
        </p:blipFill>
        <p:spPr>
          <a:xfrm>
            <a:off x="1350541" y="3019486"/>
            <a:ext cx="1728000" cy="1731681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pic>
        <p:nvPicPr>
          <p:cNvPr id="32" name="Marcador de posición de imagen 5">
            <a:extLst>
              <a:ext uri="{FF2B5EF4-FFF2-40B4-BE49-F238E27FC236}">
                <a16:creationId xmlns:a16="http://schemas.microsoft.com/office/drawing/2014/main" id="{D8D4C92C-B318-B2AC-CAF4-B682D64CB4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 l="45263" r="-1512"/>
          <a:stretch>
            <a:fillRect/>
          </a:stretch>
        </p:blipFill>
        <p:spPr>
          <a:xfrm>
            <a:off x="3860209" y="1062415"/>
            <a:ext cx="1731681" cy="1731681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79356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8D9AA-7E8F-7A80-E38B-F0B193BE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0BB6C-DD73-9C39-A6CE-2C680B05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sz="2400" dirty="0"/>
              <a:t>¿Quien hace todo esto?</a:t>
            </a:r>
            <a:endParaRPr lang="en-US" sz="2400" dirty="0"/>
          </a:p>
        </p:txBody>
      </p:sp>
      <p:pic>
        <p:nvPicPr>
          <p:cNvPr id="15" name="Marcador de posición de imagen 5">
            <a:extLst>
              <a:ext uri="{FF2B5EF4-FFF2-40B4-BE49-F238E27FC236}">
                <a16:creationId xmlns:a16="http://schemas.microsoft.com/office/drawing/2014/main" id="{73B79AC1-4E2D-F0CD-4D31-B3A4E75A9DE4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6738" r="11275"/>
          <a:stretch>
            <a:fillRect/>
          </a:stretch>
        </p:blipFill>
        <p:spPr>
          <a:xfrm>
            <a:off x="343548" y="192810"/>
            <a:ext cx="2324288" cy="2324288"/>
          </a:xfrm>
          <a:prstGeom prst="ellipse">
            <a:avLst/>
          </a:prstGeom>
          <a:solidFill>
            <a:schemeClr val="lt1">
              <a:alpha val="0"/>
            </a:schemeClr>
          </a:solidFill>
          <a:ln w="57150">
            <a:solidFill>
              <a:schemeClr val="tx2">
                <a:lumMod val="75000"/>
              </a:schemeClr>
            </a:solidFill>
          </a:ln>
        </p:spPr>
      </p:pic>
      <p:pic>
        <p:nvPicPr>
          <p:cNvPr id="20" name="Marcador de posición de imagen 5">
            <a:extLst>
              <a:ext uri="{FF2B5EF4-FFF2-40B4-BE49-F238E27FC236}">
                <a16:creationId xmlns:a16="http://schemas.microsoft.com/office/drawing/2014/main" id="{3F722D9A-3686-14D3-3DF5-DAFCCED66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19" r="22019"/>
          <a:stretch/>
        </p:blipFill>
        <p:spPr>
          <a:xfrm>
            <a:off x="6660894" y="2676942"/>
            <a:ext cx="2319347" cy="2324288"/>
          </a:xfrm>
          <a:prstGeom prst="ellipse">
            <a:avLst/>
          </a:prstGeom>
          <a:noFill/>
          <a:ln w="57150">
            <a:solidFill>
              <a:schemeClr val="tx2">
                <a:lumMod val="75000"/>
              </a:schemeClr>
            </a:solidFill>
          </a:ln>
        </p:spPr>
      </p:pic>
      <p:pic>
        <p:nvPicPr>
          <p:cNvPr id="21" name="Marcador de posición de imagen 5">
            <a:extLst>
              <a:ext uri="{FF2B5EF4-FFF2-40B4-BE49-F238E27FC236}">
                <a16:creationId xmlns:a16="http://schemas.microsoft.com/office/drawing/2014/main" id="{C1B8EACE-0204-33CE-2BAB-5181534DA6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6702792" y="192810"/>
            <a:ext cx="2324288" cy="2324288"/>
          </a:xfrm>
          <a:prstGeom prst="ellipse">
            <a:avLst/>
          </a:prstGeom>
          <a:noFill/>
          <a:ln w="57150">
            <a:solidFill>
              <a:schemeClr val="tx2">
                <a:lumMod val="75000"/>
              </a:schemeClr>
            </a:solidFill>
          </a:ln>
        </p:spPr>
      </p:pic>
      <p:pic>
        <p:nvPicPr>
          <p:cNvPr id="22" name="Marcador de posición de imagen 5">
            <a:extLst>
              <a:ext uri="{FF2B5EF4-FFF2-40B4-BE49-F238E27FC236}">
                <a16:creationId xmlns:a16="http://schemas.microsoft.com/office/drawing/2014/main" id="{CFD7486F-1EA6-C07A-BEFC-A865E94B35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724" r="16724"/>
          <a:stretch/>
        </p:blipFill>
        <p:spPr>
          <a:xfrm>
            <a:off x="413470" y="2676942"/>
            <a:ext cx="2324288" cy="2324288"/>
          </a:xfrm>
          <a:prstGeom prst="ellipse">
            <a:avLst/>
          </a:prstGeom>
          <a:noFill/>
          <a:ln w="57150">
            <a:solidFill>
              <a:schemeClr val="tx2">
                <a:lumMod val="75000"/>
              </a:schemeClr>
            </a:solidFill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E3709B0-0664-B2FA-721C-DD141425FD62}"/>
              </a:ext>
            </a:extLst>
          </p:cNvPr>
          <p:cNvSpPr/>
          <p:nvPr/>
        </p:nvSpPr>
        <p:spPr>
          <a:xfrm>
            <a:off x="3202266" y="1093344"/>
            <a:ext cx="292419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Programadores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2CFCCC-8D80-3CC6-7625-94065961C6F8}"/>
              </a:ext>
            </a:extLst>
          </p:cNvPr>
          <p:cNvSpPr/>
          <p:nvPr/>
        </p:nvSpPr>
        <p:spPr>
          <a:xfrm>
            <a:off x="3173717" y="3788547"/>
            <a:ext cx="298129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Cualquiera con entusiasmo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8C9D10-E027-BC5C-F35F-D88CB23C4DA8}"/>
              </a:ext>
            </a:extLst>
          </p:cNvPr>
          <p:cNvSpPr/>
          <p:nvPr/>
        </p:nvSpPr>
        <p:spPr>
          <a:xfrm>
            <a:off x="3394968" y="1865782"/>
            <a:ext cx="2538794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Diseñadores web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CC14608-0E3A-532B-036C-12FCFC66AF72}"/>
              </a:ext>
            </a:extLst>
          </p:cNvPr>
          <p:cNvSpPr/>
          <p:nvPr/>
        </p:nvSpPr>
        <p:spPr>
          <a:xfrm>
            <a:off x="3208678" y="2923907"/>
            <a:ext cx="29113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Ciberseguridad</a:t>
            </a:r>
            <a:endParaRPr lang="es-ES" sz="28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cxnSp>
        <p:nvCxnSpPr>
          <p:cNvPr id="16" name="Conector: curvado 15">
            <a:extLst>
              <a:ext uri="{FF2B5EF4-FFF2-40B4-BE49-F238E27FC236}">
                <a16:creationId xmlns:a16="http://schemas.microsoft.com/office/drawing/2014/main" id="{06B14775-A57D-E8A7-4A2A-10DC7A89C4AC}"/>
              </a:ext>
            </a:extLst>
          </p:cNvPr>
          <p:cNvCxnSpPr>
            <a:stCxn id="4" idx="1"/>
            <a:endCxn id="15" idx="5"/>
          </p:cNvCxnSpPr>
          <p:nvPr/>
        </p:nvCxnSpPr>
        <p:spPr>
          <a:xfrm rot="10800000" flipV="1">
            <a:off x="2327452" y="1354954"/>
            <a:ext cx="874814" cy="821760"/>
          </a:xfrm>
          <a:prstGeom prst="curvedConnector4">
            <a:avLst>
              <a:gd name="adj1" fmla="val 37945"/>
              <a:gd name="adj2" fmla="val 118035"/>
            </a:avLst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240FF012-3C7E-B045-9D81-4A42F032C8CB}"/>
              </a:ext>
            </a:extLst>
          </p:cNvPr>
          <p:cNvCxnSpPr>
            <a:stCxn id="8" idx="3"/>
            <a:endCxn id="21" idx="2"/>
          </p:cNvCxnSpPr>
          <p:nvPr/>
        </p:nvCxnSpPr>
        <p:spPr>
          <a:xfrm flipV="1">
            <a:off x="5933762" y="1354954"/>
            <a:ext cx="769030" cy="987882"/>
          </a:xfrm>
          <a:prstGeom prst="curvedConnector3">
            <a:avLst>
              <a:gd name="adj1" fmla="val 40530"/>
            </a:avLst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ado 29">
            <a:extLst>
              <a:ext uri="{FF2B5EF4-FFF2-40B4-BE49-F238E27FC236}">
                <a16:creationId xmlns:a16="http://schemas.microsoft.com/office/drawing/2014/main" id="{F31D934D-2224-8A6D-CD37-55BB10EAC21D}"/>
              </a:ext>
            </a:extLst>
          </p:cNvPr>
          <p:cNvCxnSpPr>
            <a:stCxn id="10" idx="1"/>
            <a:endCxn id="22" idx="5"/>
          </p:cNvCxnSpPr>
          <p:nvPr/>
        </p:nvCxnSpPr>
        <p:spPr>
          <a:xfrm rot="10800000" flipV="1">
            <a:off x="2397374" y="3185516"/>
            <a:ext cx="811304" cy="1475329"/>
          </a:xfrm>
          <a:prstGeom prst="curvedConnector4">
            <a:avLst>
              <a:gd name="adj1" fmla="val 21043"/>
              <a:gd name="adj2" fmla="val 111691"/>
            </a:avLst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curvado 33">
            <a:extLst>
              <a:ext uri="{FF2B5EF4-FFF2-40B4-BE49-F238E27FC236}">
                <a16:creationId xmlns:a16="http://schemas.microsoft.com/office/drawing/2014/main" id="{74F179EB-C884-8662-ED44-AFF083FB8238}"/>
              </a:ext>
            </a:extLst>
          </p:cNvPr>
          <p:cNvCxnSpPr>
            <a:cxnSpLocks/>
            <a:stCxn id="6" idx="3"/>
            <a:endCxn id="20" idx="3"/>
          </p:cNvCxnSpPr>
          <p:nvPr/>
        </p:nvCxnSpPr>
        <p:spPr>
          <a:xfrm>
            <a:off x="6155013" y="4265601"/>
            <a:ext cx="845542" cy="395245"/>
          </a:xfrm>
          <a:prstGeom prst="curvedConnector4">
            <a:avLst>
              <a:gd name="adj1" fmla="val 29915"/>
              <a:gd name="adj2" fmla="val 157838"/>
            </a:avLst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67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CF89A-AA6A-B4B2-8CFD-FC27BC8C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179554"/>
            <a:ext cx="8445909" cy="572700"/>
          </a:xfrm>
        </p:spPr>
        <p:txBody>
          <a:bodyPr/>
          <a:lstStyle/>
          <a:p>
            <a:pPr algn="ctr"/>
            <a:r>
              <a:rPr lang="es-MX" sz="2300" dirty="0"/>
              <a:t>¿Como entiende mi computadora las instrucciones?</a:t>
            </a:r>
            <a:endParaRPr lang="en-US" sz="23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EAF3D119-44E2-1CE3-6496-944B9706504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921790" y="1039889"/>
            <a:ext cx="5346916" cy="572700"/>
          </a:xfrm>
        </p:spPr>
        <p:txBody>
          <a:bodyPr/>
          <a:lstStyle/>
          <a:p>
            <a:pPr marL="139700" indent="0">
              <a:buNone/>
            </a:pPr>
            <a:r>
              <a:rPr lang="es-MX" sz="1800" dirty="0"/>
              <a:t>Las computadoras no entienden lenguaje natural.</a:t>
            </a:r>
          </a:p>
          <a:p>
            <a:endParaRPr lang="en-US" dirty="0"/>
          </a:p>
        </p:txBody>
      </p:sp>
      <p:pic>
        <p:nvPicPr>
          <p:cNvPr id="9" name="Marcador de posición de imagen 5">
            <a:extLst>
              <a:ext uri="{FF2B5EF4-FFF2-40B4-BE49-F238E27FC236}">
                <a16:creationId xmlns:a16="http://schemas.microsoft.com/office/drawing/2014/main" id="{22175834-54DB-0FE8-D82E-74512D9A47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4628" y="789512"/>
            <a:ext cx="1508718" cy="1508718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sp>
        <p:nvSpPr>
          <p:cNvPr id="10" name="Subtítulo 3">
            <a:extLst>
              <a:ext uri="{FF2B5EF4-FFF2-40B4-BE49-F238E27FC236}">
                <a16:creationId xmlns:a16="http://schemas.microsoft.com/office/drawing/2014/main" id="{A325154A-8D56-3A56-8F86-2C7FC284E5AE}"/>
              </a:ext>
            </a:extLst>
          </p:cNvPr>
          <p:cNvSpPr txBox="1">
            <a:spLocks/>
          </p:cNvSpPr>
          <p:nvPr/>
        </p:nvSpPr>
        <p:spPr>
          <a:xfrm>
            <a:off x="2335823" y="1758740"/>
            <a:ext cx="5346916" cy="106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Font typeface="Lato"/>
              <a:buNone/>
            </a:pPr>
            <a:r>
              <a:rPr lang="es-MX" sz="1800" dirty="0"/>
              <a:t>De hecho solo entienden impulsos eléctricos</a:t>
            </a:r>
          </a:p>
          <a:p>
            <a:pPr marL="139700" indent="0">
              <a:buNone/>
            </a:pPr>
            <a:r>
              <a:rPr lang="es-MX" sz="1800" dirty="0"/>
              <a:t>Nosotros no le vamos a “hablar” con impulsos eléctricos por supuesto.</a:t>
            </a:r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11" name="Marcador de posición de imagen 5">
            <a:extLst>
              <a:ext uri="{FF2B5EF4-FFF2-40B4-BE49-F238E27FC236}">
                <a16:creationId xmlns:a16="http://schemas.microsoft.com/office/drawing/2014/main" id="{0709DB1F-042A-9CF9-AC34-6DE9151A6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81" r="21781"/>
          <a:stretch/>
        </p:blipFill>
        <p:spPr>
          <a:xfrm>
            <a:off x="7373927" y="1689724"/>
            <a:ext cx="1224000" cy="1224000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sp>
        <p:nvSpPr>
          <p:cNvPr id="12" name="Subtítulo 3">
            <a:extLst>
              <a:ext uri="{FF2B5EF4-FFF2-40B4-BE49-F238E27FC236}">
                <a16:creationId xmlns:a16="http://schemas.microsoft.com/office/drawing/2014/main" id="{13A4AC40-1B4E-1EE6-B954-94297644D193}"/>
              </a:ext>
            </a:extLst>
          </p:cNvPr>
          <p:cNvSpPr txBox="1">
            <a:spLocks/>
          </p:cNvSpPr>
          <p:nvPr/>
        </p:nvSpPr>
        <p:spPr>
          <a:xfrm>
            <a:off x="2173548" y="2966843"/>
            <a:ext cx="6028841" cy="1061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Font typeface="Lato"/>
              <a:buNone/>
            </a:pPr>
            <a:r>
              <a:rPr lang="es-MX" sz="1800" dirty="0"/>
              <a:t>Lee indicamos las instrucciones mediante comandos, de un LENGUAJE DE PROGRAMACIÓN</a:t>
            </a:r>
          </a:p>
          <a:p>
            <a:endParaRPr lang="en-US" dirty="0"/>
          </a:p>
        </p:txBody>
      </p:sp>
      <p:pic>
        <p:nvPicPr>
          <p:cNvPr id="13" name="Marcador de posición de imagen 5">
            <a:extLst>
              <a:ext uri="{FF2B5EF4-FFF2-40B4-BE49-F238E27FC236}">
                <a16:creationId xmlns:a16="http://schemas.microsoft.com/office/drawing/2014/main" id="{EC7C2E6A-F4CA-7361-BEF6-55CC97011D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432619" y="2485474"/>
            <a:ext cx="1868514" cy="1868514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8F011F80-B920-296D-4318-D234E8079A95}"/>
              </a:ext>
            </a:extLst>
          </p:cNvPr>
          <p:cNvSpPr txBox="1">
            <a:spLocks/>
          </p:cNvSpPr>
          <p:nvPr/>
        </p:nvSpPr>
        <p:spPr>
          <a:xfrm>
            <a:off x="708358" y="4317786"/>
            <a:ext cx="8003023" cy="68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r"/>
            <a:r>
              <a:rPr lang="es-MX" sz="2400" dirty="0"/>
              <a:t>¿Conocen algún lenguaje de programación?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862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10" grpId="0"/>
      <p:bldP spid="12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E6018-0959-2948-1DF3-9FE0868B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674" y="755262"/>
            <a:ext cx="4034372" cy="1403400"/>
          </a:xfrm>
        </p:spPr>
        <p:txBody>
          <a:bodyPr/>
          <a:lstStyle/>
          <a:p>
            <a:pPr algn="ctr"/>
            <a:r>
              <a:rPr lang="es-MX" sz="3200" dirty="0"/>
              <a:t>¿Con que instrucción empiezo?</a:t>
            </a:r>
            <a:endParaRPr lang="en-US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72161A-BACE-2B78-AC11-57617CA9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1811" y="2158662"/>
            <a:ext cx="3524100" cy="1403400"/>
          </a:xfrm>
        </p:spPr>
        <p:txBody>
          <a:bodyPr/>
          <a:lstStyle/>
          <a:p>
            <a:pPr marL="139700" indent="0" algn="ctr">
              <a:buNone/>
            </a:pPr>
            <a:r>
              <a:rPr lang="es-MX" sz="2000" dirty="0"/>
              <a:t>Hagamos una dinámica, la dinámica de preparar un sándwich.</a:t>
            </a:r>
          </a:p>
          <a:p>
            <a:endParaRPr lang="en-US" dirty="0"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944CDEA4-FC3E-AFC3-65B4-5FE8E64898C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16667" r="16667"/>
          <a:stretch>
            <a:fillRect/>
          </a:stretch>
        </p:blipFill>
        <p:spPr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2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6FA52-A335-90FB-15FB-AEDFEEBB0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¿Qué aprenderemos mas adelante?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19E55B-004D-ECD5-9D2D-0D8442E71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662" y="1500750"/>
            <a:ext cx="2765286" cy="1071000"/>
          </a:xfrm>
        </p:spPr>
        <p:txBody>
          <a:bodyPr/>
          <a:lstStyle/>
          <a:p>
            <a:r>
              <a:rPr lang="es-MX" dirty="0"/>
              <a:t>¿Cómo se crean?</a:t>
            </a:r>
          </a:p>
          <a:p>
            <a:r>
              <a:rPr lang="es-MX" dirty="0"/>
              <a:t>¿Cómo se hacen bonitas?</a:t>
            </a:r>
          </a:p>
          <a:p>
            <a:r>
              <a:rPr lang="es-MX" dirty="0"/>
              <a:t>¿Cómo se hacen interactivas?</a:t>
            </a:r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2ADCE188-6769-E72B-4054-5C2D4FDB5978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974900" y="1208250"/>
            <a:ext cx="1986000" cy="359100"/>
          </a:xfrm>
        </p:spPr>
        <p:txBody>
          <a:bodyPr/>
          <a:lstStyle/>
          <a:p>
            <a:r>
              <a:rPr lang="es-MX" dirty="0"/>
              <a:t>Paginas web</a:t>
            </a:r>
            <a:endParaRPr lang="en-US" dirty="0"/>
          </a:p>
        </p:txBody>
      </p:sp>
      <p:sp>
        <p:nvSpPr>
          <p:cNvPr id="10" name="Subtítulo 9">
            <a:extLst>
              <a:ext uri="{FF2B5EF4-FFF2-40B4-BE49-F238E27FC236}">
                <a16:creationId xmlns:a16="http://schemas.microsoft.com/office/drawing/2014/main" id="{23DF8235-27F6-59C2-C38E-E5D0B2EAA4E9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402956" y="3054775"/>
            <a:ext cx="3246894" cy="802823"/>
          </a:xfrm>
        </p:spPr>
        <p:txBody>
          <a:bodyPr/>
          <a:lstStyle/>
          <a:p>
            <a:pPr algn="ctr"/>
            <a:r>
              <a:rPr lang="es-MX" dirty="0"/>
              <a:t>¿ Cómo subo una pagina a internet ?</a:t>
            </a:r>
            <a:endParaRPr lang="en-US" dirty="0"/>
          </a:p>
        </p:txBody>
      </p:sp>
      <p:sp>
        <p:nvSpPr>
          <p:cNvPr id="14" name="Subtítulo 13">
            <a:extLst>
              <a:ext uri="{FF2B5EF4-FFF2-40B4-BE49-F238E27FC236}">
                <a16:creationId xmlns:a16="http://schemas.microsoft.com/office/drawing/2014/main" id="{6519B911-060C-AD64-FAEB-BC771BD3E5DA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5502568" y="1147129"/>
            <a:ext cx="2666532" cy="889121"/>
          </a:xfrm>
        </p:spPr>
        <p:txBody>
          <a:bodyPr/>
          <a:lstStyle/>
          <a:p>
            <a:pPr algn="ctr"/>
            <a:r>
              <a:rPr lang="es-MX" dirty="0"/>
              <a:t>¿Qué apps se pueden hacer?</a:t>
            </a:r>
            <a:endParaRPr lang="en-US" dirty="0"/>
          </a:p>
        </p:txBody>
      </p:sp>
      <p:pic>
        <p:nvPicPr>
          <p:cNvPr id="15" name="Marcador de posición de imagen 5">
            <a:hlinkClick r:id="rId2"/>
            <a:extLst>
              <a:ext uri="{FF2B5EF4-FFF2-40B4-BE49-F238E27FC236}">
                <a16:creationId xmlns:a16="http://schemas.microsoft.com/office/drawing/2014/main" id="{E1B5E7F0-96F9-71AA-2BD9-0070C1474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05" r="26405"/>
          <a:stretch/>
        </p:blipFill>
        <p:spPr>
          <a:xfrm>
            <a:off x="6795595" y="2829961"/>
            <a:ext cx="1868514" cy="1868514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pic>
        <p:nvPicPr>
          <p:cNvPr id="16" name="Marcador de posición de imagen 5">
            <a:hlinkClick r:id="rId4"/>
            <a:extLst>
              <a:ext uri="{FF2B5EF4-FFF2-40B4-BE49-F238E27FC236}">
                <a16:creationId xmlns:a16="http://schemas.microsoft.com/office/drawing/2014/main" id="{9A527AF9-E845-87A3-ED23-F455517AA1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065" r="27065"/>
          <a:stretch/>
        </p:blipFill>
        <p:spPr>
          <a:xfrm>
            <a:off x="4227121" y="2829961"/>
            <a:ext cx="1868514" cy="1868514"/>
          </a:xfrm>
          <a:prstGeom prst="ellipse">
            <a:avLst/>
          </a:prstGeom>
          <a:noFill/>
          <a:ln>
            <a:noFill/>
          </a:ln>
          <a:effectLst>
            <a:glow rad="304800">
              <a:schemeClr val="accent1">
                <a:alpha val="40000"/>
              </a:schemeClr>
            </a:glow>
          </a:effectLst>
        </p:spPr>
      </p:pic>
      <p:sp>
        <p:nvSpPr>
          <p:cNvPr id="17" name="Subtítulo 13">
            <a:extLst>
              <a:ext uri="{FF2B5EF4-FFF2-40B4-BE49-F238E27FC236}">
                <a16:creationId xmlns:a16="http://schemas.microsoft.com/office/drawing/2014/main" id="{9283870B-F092-3C07-FC39-E58AA1BD057F}"/>
              </a:ext>
            </a:extLst>
          </p:cNvPr>
          <p:cNvSpPr txBox="1">
            <a:spLocks/>
          </p:cNvSpPr>
          <p:nvPr/>
        </p:nvSpPr>
        <p:spPr>
          <a:xfrm>
            <a:off x="4980792" y="2452747"/>
            <a:ext cx="2666532" cy="37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ctr"/>
            <a:r>
              <a:rPr lang="es-MX" dirty="0"/>
              <a:t>Ejemplos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98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4450A-CFF5-EE4E-3CB5-357EE640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922" y="1870050"/>
            <a:ext cx="3524100" cy="1403400"/>
          </a:xfrm>
        </p:spPr>
        <p:txBody>
          <a:bodyPr/>
          <a:lstStyle/>
          <a:p>
            <a:r>
              <a:rPr lang="es-MX" sz="4000" dirty="0"/>
              <a:t>Examen diagnóstico</a:t>
            </a:r>
            <a:endParaRPr lang="en-US" sz="4000" dirty="0"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28230142-A675-E2CE-D0E7-AD84154BE7A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6278302"/>
      </p:ext>
    </p:extLst>
  </p:cSld>
  <p:clrMapOvr>
    <a:masterClrMapping/>
  </p:clrMapOvr>
</p:sld>
</file>

<file path=ppt/theme/theme1.xml><?xml version="1.0" encoding="utf-8"?>
<a:theme xmlns:a="http://schemas.openxmlformats.org/drawingml/2006/main" name="Ai essentials workshop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 essentials workshop" id="{06E31056-9EAB-4FC9-BFA2-3E2A070694B4}" vid="{3CD6F1FF-BFC2-40B2-B9FB-BA1AB3512B92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F4DB2D-4975-4E2C-A47D-7FEE859488F1}">
  <we:reference id="wa200007130" version="1.0.0.1" store="es-ES" storeType="OMEX"/>
  <we:alternateReferences>
    <we:reference id="wa200007130" version="1.0.0.1" store="es-E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Ai essentials workshop</Template>
  <TotalTime>108</TotalTime>
  <Words>184</Words>
  <Application>Microsoft Office PowerPoint</Application>
  <PresentationFormat>Presentación en pantalla (16:9)</PresentationFormat>
  <Paragraphs>27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Lato</vt:lpstr>
      <vt:lpstr>Wingdings</vt:lpstr>
      <vt:lpstr>Open Sans</vt:lpstr>
      <vt:lpstr>Sora</vt:lpstr>
      <vt:lpstr>Lato Light</vt:lpstr>
      <vt:lpstr>Arial</vt:lpstr>
      <vt:lpstr>Proxima Nova</vt:lpstr>
      <vt:lpstr>Proxima Nova Semibold</vt:lpstr>
      <vt:lpstr>Ai essentials workshop</vt:lpstr>
      <vt:lpstr>Slidesgo Final Pages</vt:lpstr>
      <vt:lpstr>Bienvenidos al mundo de la programación web.</vt:lpstr>
      <vt:lpstr>Pero… para empezar ¿qué es la programación?</vt:lpstr>
      <vt:lpstr>Cosas que usan programación todos los días</vt:lpstr>
      <vt:lpstr>¿Quien hace todo esto?</vt:lpstr>
      <vt:lpstr>¿Como entiende mi computadora las instrucciones?</vt:lpstr>
      <vt:lpstr>¿Con que instrucción empiezo?</vt:lpstr>
      <vt:lpstr>¿Qué aprenderemos mas adelante?</vt:lpstr>
      <vt:lpstr>Examen diagnóstico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 Aguilar</dc:creator>
  <cp:lastModifiedBy>Erick Aguilar</cp:lastModifiedBy>
  <cp:revision>2</cp:revision>
  <dcterms:created xsi:type="dcterms:W3CDTF">2026-06-27T03:10:19Z</dcterms:created>
  <dcterms:modified xsi:type="dcterms:W3CDTF">2026-06-27T05:05:45Z</dcterms:modified>
</cp:coreProperties>
</file>